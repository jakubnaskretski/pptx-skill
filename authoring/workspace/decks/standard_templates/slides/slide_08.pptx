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4" Type="http://schemas.openxmlformats.org/officeDocument/2006/relationships/slide" Target="slides/slide8.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 /><Relationship Id="rId12" Type="http://schemas.openxmlformats.org/officeDocument/2006/relationships/theme" Target="../theme/theme1.xml" /></Relationships>
</file>

<file path=ppt/slideMasters/slideMaster1.xml><?xml version="1.0" encoding="utf-8"?>
<p:sldMaster xmlns:a="http://schemas.openxmlformats.org/drawingml/2006/main" xmlns:ns2="http://schemas.microsoft.com/office/powerpoint/2010/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ns2:creationId val="2209977519"/>
      </p:ext>
    </p:extLst>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640080"/>
          </a:xfrm>
          <a:prstGeom prst="rect">
            <a:avLst/>
          </a:prstGeom>
          <a:noFill/>
        </p:spPr>
        <p:txBody>
          <a:bodyPr wrap="none" lIns="0" rIns="0" tIns="0" bIns="0">
            <a:spAutoFit/>
          </a:bodyPr>
          <a:lstStyle/>
          <a:p>
            <a:r>
              <a:rPr sz="2800" b="1">
                <a:solidFill>
                  <a:srgbClr val="222A35"/>
                </a:solidFill>
                <a:latin typeface="Calibri"/>
              </a:rPr>
              <a:t>Headcount Plan — Next Two Quarters</a:t>
            </a:r>
          </a:p>
        </p:txBody>
      </p:sp>
      <p:sp>
        <p:nvSpPr>
          <p:cNvPr id="3" name="Rectangle 2"/>
          <p:cNvSpPr/>
          <p:nvPr/>
        </p:nvSpPr>
        <p:spPr>
          <a:xfrm>
            <a:off x="457200" y="987552"/>
            <a:ext cx="640080" cy="28575"/>
          </a:xfrm>
          <a:prstGeom prst="rect">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5880"/>
            <a:ext cx="5303520" cy="4754880"/>
          </a:xfrm>
          <a:prstGeom prst="rect">
            <a:avLst/>
          </a:prstGeom>
          <a:noFill/>
        </p:spPr>
        <p:txBody>
          <a:bodyPr wrap="square">
            <a:spAutoFit/>
          </a:bodyPr>
          <a:lstStyle/>
          <a:p>
            <a:r>
              <a:rPr sz="1500">
                <a:solidFill>
                  <a:srgbClr val="222A35"/>
                </a:solidFill>
                <a:latin typeface="Calibri"/>
              </a:rPr>
              <a:t>The plan front-loads engineering hiring to support the Q1 roadmap, then opens GTM capacity once the new playbook is rolled out. All roles are open as of the start of the next quarter and recruiting capacity is in place to fill them at the cadence shown.</a:t>
            </a:r>
          </a:p>
        </p:txBody>
      </p:sp>
      <p:graphicFrame>
        <p:nvGraphicFramePr>
          <p:cNvPr id="5" name="Table 4"/>
          <p:cNvGraphicFramePr>
            <a:graphicFrameLocks noGrp="1"/>
          </p:cNvGraphicFramePr>
          <p:nvPr/>
        </p:nvGraphicFramePr>
        <p:xfrm>
          <a:off x="6126480" y="1325880"/>
          <a:ext cx="5605272" cy="4754880"/>
        </p:xfrm>
        <a:graphic>
          <a:graphicData uri="http://schemas.openxmlformats.org/drawingml/2006/table">
            <a:tbl>
              <a:tblPr firstRow="1" bandRow="1">
                <a:tableStyleId>{5C22544A-7EE6-4342-B048-85BDC9FD1C3A}</a:tableStyleId>
              </a:tblPr>
              <a:tblGrid>
                <a:gridCol w="1868424"/>
                <a:gridCol w="1868424"/>
                <a:gridCol w="1868424"/>
              </a:tblGrid>
              <a:tr h="950976">
                <a:tc>
                  <a:txBody>
                    <a:bodyPr/>
                    <a:lstStyle/>
                    <a:p>
                      <a:r>
                        <a:rPr b="1" sz="1200">
                          <a:solidFill>
                            <a:srgbClr val="FFFFFF"/>
                          </a:solidFill>
                        </a:rPr>
                        <a:t>Function</a:t>
                      </a:r>
                    </a:p>
                  </a:txBody>
                  <a:tcPr>
                    <a:solidFill>
                      <a:srgbClr val="1F4E8C"/>
                    </a:solidFill>
                  </a:tcPr>
                </a:tc>
                <a:tc>
                  <a:txBody>
                    <a:bodyPr/>
                    <a:lstStyle/>
                    <a:p>
                      <a:r>
                        <a:rPr b="1" sz="1200">
                          <a:solidFill>
                            <a:srgbClr val="FFFFFF"/>
                          </a:solidFill>
                        </a:rPr>
                        <a:t>Q4 plan</a:t>
                      </a:r>
                    </a:p>
                  </a:txBody>
                  <a:tcPr>
                    <a:solidFill>
                      <a:srgbClr val="1F4E8C"/>
                    </a:solidFill>
                  </a:tcPr>
                </a:tc>
                <a:tc>
                  <a:txBody>
                    <a:bodyPr/>
                    <a:lstStyle/>
                    <a:p>
                      <a:r>
                        <a:rPr b="1" sz="1200">
                          <a:solidFill>
                            <a:srgbClr val="FFFFFF"/>
                          </a:solidFill>
                        </a:rPr>
                        <a:t>Q1 plan</a:t>
                      </a:r>
                    </a:p>
                  </a:txBody>
                  <a:tcPr>
                    <a:solidFill>
                      <a:srgbClr val="1F4E8C"/>
                    </a:solidFill>
                  </a:tcPr>
                </a:tc>
              </a:tr>
              <a:tr h="950976">
                <a:tc>
                  <a:txBody>
                    <a:bodyPr/>
                    <a:lstStyle/>
                    <a:p>
                      <a:r>
                        <a:rPr sz="1200">
                          <a:solidFill>
                            <a:srgbClr val="222A35"/>
                          </a:solidFill>
                        </a:rPr>
                        <a:t>Engineering</a:t>
                      </a:r>
                    </a:p>
                  </a:txBody>
                  <a:tcPr/>
                </a:tc>
                <a:tc>
                  <a:txBody>
                    <a:bodyPr/>
                    <a:lstStyle/>
                    <a:p>
                      <a:r>
                        <a:rPr sz="1200">
                          <a:solidFill>
                            <a:srgbClr val="222A35"/>
                          </a:solidFill>
                        </a:rPr>
                        <a:t>+6</a:t>
                      </a:r>
                    </a:p>
                  </a:txBody>
                  <a:tcPr/>
                </a:tc>
                <a:tc>
                  <a:txBody>
                    <a:bodyPr/>
                    <a:lstStyle/>
                    <a:p>
                      <a:r>
                        <a:rPr sz="1200">
                          <a:solidFill>
                            <a:srgbClr val="222A35"/>
                          </a:solidFill>
                        </a:rPr>
                        <a:t>+4</a:t>
                      </a:r>
                    </a:p>
                  </a:txBody>
                  <a:tcPr/>
                </a:tc>
              </a:tr>
              <a:tr h="950976">
                <a:tc>
                  <a:txBody>
                    <a:bodyPr/>
                    <a:lstStyle/>
                    <a:p>
                      <a:r>
                        <a:rPr sz="1200">
                          <a:solidFill>
                            <a:srgbClr val="222A35"/>
                          </a:solidFill>
                        </a:rPr>
                        <a:t>Product</a:t>
                      </a:r>
                    </a:p>
                  </a:txBody>
                  <a:tcPr/>
                </a:tc>
                <a:tc>
                  <a:txBody>
                    <a:bodyPr/>
                    <a:lstStyle/>
                    <a:p>
                      <a:r>
                        <a:rPr sz="1200">
                          <a:solidFill>
                            <a:srgbClr val="222A35"/>
                          </a:solidFill>
                        </a:rPr>
                        <a:t>+2</a:t>
                      </a:r>
                    </a:p>
                  </a:txBody>
                  <a:tcPr/>
                </a:tc>
                <a:tc>
                  <a:txBody>
                    <a:bodyPr/>
                    <a:lstStyle/>
                    <a:p>
                      <a:r>
                        <a:rPr sz="1200">
                          <a:solidFill>
                            <a:srgbClr val="222A35"/>
                          </a:solidFill>
                        </a:rPr>
                        <a:t>+1</a:t>
                      </a:r>
                    </a:p>
                  </a:txBody>
                  <a:tcPr/>
                </a:tc>
              </a:tr>
              <a:tr h="950976">
                <a:tc>
                  <a:txBody>
                    <a:bodyPr/>
                    <a:lstStyle/>
                    <a:p>
                      <a:r>
                        <a:rPr sz="1200">
                          <a:solidFill>
                            <a:srgbClr val="222A35"/>
                          </a:solidFill>
                        </a:rPr>
                        <a:t>Sales</a:t>
                      </a:r>
                    </a:p>
                  </a:txBody>
                  <a:tcPr/>
                </a:tc>
                <a:tc>
                  <a:txBody>
                    <a:bodyPr/>
                    <a:lstStyle/>
                    <a:p>
                      <a:r>
                        <a:rPr sz="1200">
                          <a:solidFill>
                            <a:srgbClr val="222A35"/>
                          </a:solidFill>
                        </a:rPr>
                        <a:t>+3</a:t>
                      </a:r>
                    </a:p>
                  </a:txBody>
                  <a:tcPr/>
                </a:tc>
                <a:tc>
                  <a:txBody>
                    <a:bodyPr/>
                    <a:lstStyle/>
                    <a:p>
                      <a:r>
                        <a:rPr sz="1200">
                          <a:solidFill>
                            <a:srgbClr val="222A35"/>
                          </a:solidFill>
                        </a:rPr>
                        <a:t>+5</a:t>
                      </a:r>
                    </a:p>
                  </a:txBody>
                  <a:tcPr/>
                </a:tc>
              </a:tr>
              <a:tr h="950976">
                <a:tc>
                  <a:txBody>
                    <a:bodyPr/>
                    <a:lstStyle/>
                    <a:p>
                      <a:r>
                        <a:rPr sz="1200">
                          <a:solidFill>
                            <a:srgbClr val="222A35"/>
                          </a:solidFill>
                        </a:rPr>
                        <a:t>CS</a:t>
                      </a:r>
                    </a:p>
                  </a:txBody>
                  <a:tcPr/>
                </a:tc>
                <a:tc>
                  <a:txBody>
                    <a:bodyPr/>
                    <a:lstStyle/>
                    <a:p>
                      <a:r>
                        <a:rPr sz="1200">
                          <a:solidFill>
                            <a:srgbClr val="222A35"/>
                          </a:solidFill>
                        </a:rPr>
                        <a:t>+2</a:t>
                      </a:r>
                    </a:p>
                  </a:txBody>
                  <a:tcPr/>
                </a:tc>
                <a:tc>
                  <a:txBody>
                    <a:bodyPr/>
                    <a:lstStyle/>
                    <a:p>
                      <a:r>
                        <a:rPr sz="1200">
                          <a:solidFill>
                            <a:srgbClr val="222A35"/>
                          </a:solidFill>
                        </a:rPr>
                        <a:t>+3</a:t>
                      </a:r>
                    </a:p>
                  </a:txBody>
                  <a:tcPr/>
                </a:tc>
              </a:tr>
            </a:tbl>
          </a:graphicData>
        </a:graphic>
      </p:graphicFrame>
      <p:sp>
        <p:nvSpPr>
          <p:cNvPr id="6" name="TextBox 5"/>
          <p:cNvSpPr txBox="1"/>
          <p:nvPr/>
        </p:nvSpPr>
        <p:spPr>
          <a:xfrm>
            <a:off x="457200" y="6400800"/>
            <a:ext cx="11274552" cy="274320"/>
          </a:xfrm>
          <a:prstGeom prst="rect">
            <a:avLst/>
          </a:prstGeom>
          <a:noFill/>
        </p:spPr>
        <p:txBody>
          <a:bodyPr wrap="none">
            <a:spAutoFit/>
          </a:bodyPr>
          <a:lstStyle/>
          <a:p>
            <a:r>
              <a:rPr sz="900">
                <a:solidFill>
                  <a:srgbClr val="6B7382"/>
                </a:solidFill>
                <a:latin typeface="Calibri"/>
              </a:rPr>
              <a:t>Template 8 · paragraph + 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