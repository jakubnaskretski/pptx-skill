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4E8C"/>
                </a:solidFill>
                <a:latin typeface="Calibri"/>
              </a:rPr>
              <a:t>ANNUAL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400" b="1">
                <a:solidFill>
                  <a:srgbClr val="222A35"/>
                </a:solidFill>
                <a:latin typeface="Calibri"/>
              </a:rPr>
              <a:t>FY26 Business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6B7382"/>
                </a:solidFill>
                <a:latin typeface="Calibri"/>
              </a:rPr>
              <a:t>Markets, momentum, and the path through next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222A35"/>
                </a:solidFill>
                <a:latin typeface="Calibri"/>
              </a:rPr>
              <a:t>Jakub Naskretski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382"/>
                </a:solidFill>
                <a:latin typeface="Calibri"/>
              </a:rPr>
              <a:t>Q4 board review ·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382"/>
                </a:solidFill>
                <a:latin typeface="Calibri"/>
              </a:rPr>
              <a:t>Template · title 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222A35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640080" cy="28575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14630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4E8C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94767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222A35"/>
                </a:solidFill>
                <a:latin typeface="Calibri"/>
              </a:rPr>
              <a:t>Where we 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06040"/>
            <a:ext cx="11274552" cy="9525"/>
          </a:xfrm>
          <a:prstGeom prst="rect">
            <a:avLst/>
          </a:prstGeom>
          <a:solidFill>
            <a:srgbClr val="D8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4630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4E8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1635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222A35"/>
                </a:solidFill>
                <a:latin typeface="Calibri"/>
              </a:rPr>
              <a:t>What changed this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11274552" cy="9525"/>
          </a:xfrm>
          <a:prstGeom prst="rect">
            <a:avLst/>
          </a:prstGeom>
          <a:solidFill>
            <a:srgbClr val="D8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14630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4E8C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68503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222A35"/>
                </a:solidFill>
                <a:latin typeface="Calibri"/>
              </a:rPr>
              <a:t>The product roadmap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43400"/>
            <a:ext cx="11274552" cy="9525"/>
          </a:xfrm>
          <a:prstGeom prst="rect">
            <a:avLst/>
          </a:prstGeom>
          <a:solidFill>
            <a:srgbClr val="D8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389119"/>
            <a:ext cx="14630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4E8C"/>
                </a:solidFill>
                <a:latin typeface="Calibr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553711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222A35"/>
                </a:solidFill>
                <a:latin typeface="Calibri"/>
              </a:rPr>
              <a:t>Investment priorities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212079"/>
            <a:ext cx="11274552" cy="9525"/>
          </a:xfrm>
          <a:prstGeom prst="rect">
            <a:avLst/>
          </a:prstGeom>
          <a:solidFill>
            <a:srgbClr val="D8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257800"/>
            <a:ext cx="14630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4E8C"/>
                </a:solidFill>
                <a:latin typeface="Calibr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422392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222A35"/>
                </a:solidFill>
                <a:latin typeface="Calibri"/>
              </a:rPr>
              <a:t>Next 90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382"/>
                </a:solidFill>
                <a:latin typeface="Calibri"/>
              </a:rPr>
              <a:t>Template · agenda / TOC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6647" y="21945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4E8C"/>
                </a:solidFill>
                <a:latin typeface="Calibri"/>
              </a:rPr>
              <a:t>PART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647" y="278892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222A35"/>
                </a:solidFill>
                <a:latin typeface="Calibri"/>
              </a:rPr>
              <a:t>What changed this year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55767" y="4434840"/>
            <a:ext cx="1280160" cy="28575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382"/>
                </a:solidFill>
                <a:latin typeface="Calibri"/>
              </a:rPr>
              <a:t>Template · section break (big text)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6647" y="1554480"/>
            <a:ext cx="10058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1">
                <a:solidFill>
                  <a:srgbClr val="1F4E8C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647" y="4434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222A35"/>
                </a:solidFill>
                <a:latin typeface="Calibri"/>
              </a:rPr>
              <a:t>The 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647" y="5257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B7382"/>
                </a:solidFill>
                <a:latin typeface="Calibri"/>
              </a:rPr>
              <a:t>Where the next four releases take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382"/>
                </a:solidFill>
                <a:latin typeface="Calibri"/>
              </a:rPr>
              <a:t>Template · section break (big number)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0" b="1">
                <a:solidFill>
                  <a:srgbClr val="1F4E8C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606040"/>
            <a:ext cx="94183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0">
                <a:solidFill>
                  <a:srgbClr val="222A35"/>
                </a:solidFill>
                <a:latin typeface="Calibri"/>
              </a:rPr>
              <a:t>We stopped building features to fill a roadmap and started building the three things customers asked for every quarter.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7492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6B7382"/>
                </a:solidFill>
                <a:latin typeface="Calibri"/>
              </a:rPr>
              <a:t>— Internal product review,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382"/>
                </a:solidFill>
                <a:latin typeface="Calibri"/>
              </a:rPr>
              <a:t>Template · pull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6647" y="2103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4E8C"/>
                </a:solidFill>
                <a:latin typeface="Calibri"/>
              </a:rPr>
              <a:t>QUESTIONS 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647" y="26060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222A35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647" y="42062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6B7382"/>
                </a:solidFill>
                <a:latin typeface="Calibri"/>
              </a:rPr>
              <a:t>Reach out — happy to dig deeper on any of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647" y="5074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222A35"/>
                </a:solidFill>
                <a:latin typeface="Calibri"/>
              </a:rPr>
              <a:t>jakub@example.com · linkedin.com/in/jakubnaskretski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382"/>
                </a:solidFill>
                <a:latin typeface="Calibri"/>
              </a:rPr>
              <a:t>Template · closing /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