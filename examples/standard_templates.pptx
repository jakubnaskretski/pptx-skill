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22A35"/>
                </a:solidFill>
              </a:rPr>
              <a:t>Revenue by region</a:t>
            </a:r>
          </a:p>
        </c:rich>
      </c:tx>
      <c:layout/>
      <c:overlay val="0"/>
    </c:title>
    <c:autoTitleDeleted val="0"/>
    <c:plotArea>
      <c:barChart>
        <c:barDir val="bar"/>
        <c:grouping val="clustered"/>
        <c:ser>
          <c:idx val="0"/>
          <c:order val="0"/>
          <c:tx>
            <c:strRef>
              <c:f>Sheet1!$B$1</c:f>
              <c:strCache>
                <c:ptCount val="1"/>
                <c:pt idx="0">
                  <c:v>Revenue ($M)</c:v>
                </c:pt>
              </c:strCache>
            </c:strRef>
          </c:tx>
          <c:cat>
            <c:strRef>
              <c:f>Sheet1!$A$2:$A$4</c:f>
              <c:strCache>
                <c:ptCount val="3"/>
                <c:pt idx="0">
                  <c:v>Americas</c:v>
                </c:pt>
                <c:pt idx="1">
                  <c:v>EMEA</c:v>
                </c:pt>
                <c:pt idx="2">
                  <c:v>APAC</c:v>
                </c:pt>
              </c:strCache>
            </c:strRef>
          </c:cat>
          <c:val>
            <c:numRef>
              <c:f>Sheet1!$B$2:$B$4</c:f>
              <c:numCache>
                <c:formatCode>General</c:formatCode>
                <c:ptCount val="3"/>
                <c:pt idx="0">
                  <c:v>38</c:v>
                </c:pt>
                <c:pt idx="1">
                  <c:v>52</c:v>
                </c:pt>
                <c:pt idx="2">
                  <c:v>27</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22A35"/>
                </a:solidFill>
              </a:rPr>
              <a:t>Monthly active accounts</a:t>
            </a:r>
          </a:p>
        </c:rich>
      </c:tx>
      <c:layout/>
      <c:overlay val="0"/>
    </c:title>
    <c:autoTitleDeleted val="0"/>
    <c:plotArea>
      <c:lineChart>
        <c:grouping val="standard"/>
        <c:varyColors val="0"/>
        <c:ser>
          <c:idx val="0"/>
          <c:order val="0"/>
          <c:tx>
            <c:strRef>
              <c:f>Sheet1!$B$1</c:f>
              <c:strCache>
                <c:ptCount val="1"/>
                <c:pt idx="0">
                  <c:v>Monthly active accounts</c:v>
                </c:pt>
              </c:strCache>
            </c:strRef>
          </c:tx>
          <c:marker>
            <c:symbol val="none"/>
          </c:marker>
          <c:cat>
            <c:strRef>
              <c:f>Sheet1!$A$2:$A$13</c:f>
              <c:strCache>
                <c:ptCount val="12"/>
                <c:pt idx="0">
                  <c:v>J</c:v>
                </c:pt>
                <c:pt idx="1">
                  <c:v>F</c:v>
                </c:pt>
                <c:pt idx="2">
                  <c:v>M</c:v>
                </c:pt>
                <c:pt idx="3">
                  <c:v>A</c:v>
                </c:pt>
                <c:pt idx="4">
                  <c:v>M</c:v>
                </c:pt>
                <c:pt idx="5">
                  <c:v>J</c:v>
                </c:pt>
                <c:pt idx="6">
                  <c:v>J</c:v>
                </c:pt>
                <c:pt idx="7">
                  <c:v>A</c:v>
                </c:pt>
                <c:pt idx="8">
                  <c:v>S</c:v>
                </c:pt>
                <c:pt idx="9">
                  <c:v>O</c:v>
                </c:pt>
                <c:pt idx="10">
                  <c:v>N</c:v>
                </c:pt>
                <c:pt idx="11">
                  <c:v>D</c:v>
                </c:pt>
              </c:strCache>
            </c:strRef>
          </c:cat>
          <c:val>
            <c:numRef>
              <c:f>Sheet1!$B$2:$B$13</c:f>
              <c:numCache>
                <c:formatCode>General</c:formatCode>
                <c:ptCount val="12"/>
                <c:pt idx="0">
                  <c:v>12</c:v>
                </c:pt>
                <c:pt idx="1">
                  <c:v>14</c:v>
                </c:pt>
                <c:pt idx="2">
                  <c:v>15</c:v>
                </c:pt>
                <c:pt idx="3">
                  <c:v>18</c:v>
                </c:pt>
                <c:pt idx="4">
                  <c:v>24</c:v>
                </c:pt>
                <c:pt idx="5">
                  <c:v>28</c:v>
                </c:pt>
                <c:pt idx="6">
                  <c:v>30</c:v>
                </c:pt>
                <c:pt idx="7">
                  <c:v>31</c:v>
                </c:pt>
                <c:pt idx="8">
                  <c:v>30</c:v>
                </c:pt>
                <c:pt idx="9">
                  <c:v>33</c:v>
                </c:pt>
                <c:pt idx="10">
                  <c:v>38</c:v>
                </c:pt>
                <c:pt idx="11">
                  <c:v>42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title>
      <c:tx>
        <c:rich>
          <a:bodyPr/>
          <a:lstStyle/>
          <a:p>
            <a:r>
              <a:rPr sz="1400" b="1">
                <a:solidFill>
                  <a:srgbClr val="222A35"/>
                </a:solidFill>
              </a:rPr>
              <a:t>Mix</a:t>
            </a:r>
          </a:p>
        </c:rich>
      </c:tx>
      <c:layout/>
      <c:overlay val="0"/>
    </c:title>
    <c:autoTitleDeleted val="0"/>
    <c:plotArea>
      <c:pieChart>
        <c:varyColors val="1"/>
        <c:ser>
          <c:idx val="0"/>
          <c:order val="0"/>
          <c:tx>
            <c:strRef>
              <c:f>Sheet1!$B$1</c:f>
              <c:strCache>
                <c:ptCount val="1"/>
                <c:pt idx="0">
                  <c:v>Mix</c:v>
                </c:pt>
              </c:strCache>
            </c:strRef>
          </c:tx>
          <c:cat>
            <c:strRef>
              <c:f>Sheet1!$A$2:$A$5</c:f>
              <c:strCache>
                <c:ptCount val="4"/>
                <c:pt idx="0">
                  <c:v>Platform</c:v>
                </c:pt>
                <c:pt idx="1">
                  <c:v>Add-ons</c:v>
                </c:pt>
                <c:pt idx="2">
                  <c:v>Services</c:v>
                </c:pt>
                <c:pt idx="3">
                  <c:v>Other</c:v>
                </c:pt>
              </c:strCache>
            </c:strRef>
          </c:cat>
          <c:val>
            <c:numRef>
              <c:f>Sheet1!$B$2:$B$5</c:f>
              <c:numCache>
                <c:formatCode>General</c:formatCode>
                <c:ptCount val="4"/>
                <c:pt idx="0">
                  <c:v>52</c:v>
                </c:pt>
                <c:pt idx="1">
                  <c:v>22</c:v>
                </c:pt>
                <c:pt idx="2">
                  <c:v>18</c:v>
                </c:pt>
                <c:pt idx="3">
                  <c:v>8</c:v>
                </c:pt>
              </c:numCache>
            </c:numRef>
          </c:val>
        </c:ser>
      </c:pieChart>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22A35"/>
                </a:solidFill>
              </a:rPr>
              <a:t>Operating margin %</a:t>
            </a:r>
          </a:p>
        </c:rich>
      </c:tx>
      <c:layout/>
      <c:overlay val="0"/>
    </c:title>
    <c:autoTitleDeleted val="0"/>
    <c:plotArea>
      <c:barChart>
        <c:barDir val="col"/>
        <c:grouping val="clustered"/>
        <c:ser>
          <c:idx val="0"/>
          <c:order val="0"/>
          <c:tx>
            <c:strRef>
              <c:f>Sheet1!$B$1</c:f>
              <c:strCache>
                <c:ptCount val="1"/>
                <c:pt idx="0">
                  <c:v>Op margin (%)</c:v>
                </c:pt>
              </c:strCache>
            </c:strRef>
          </c:tx>
          <c:cat>
            <c:strRef>
              <c:f>Sheet1!$A$2:$A$5</c:f>
              <c:strCache>
                <c:ptCount val="4"/>
                <c:pt idx="0">
                  <c:v>Q4 last</c:v>
                </c:pt>
                <c:pt idx="1">
                  <c:v>Q1</c:v>
                </c:pt>
                <c:pt idx="2">
                  <c:v>Q2</c:v>
                </c:pt>
                <c:pt idx="3">
                  <c:v>Q3</c:v>
                </c:pt>
              </c:strCache>
            </c:strRef>
          </c:cat>
          <c:val>
            <c:numRef>
              <c:f>Sheet1!$B$2:$B$5</c:f>
              <c:numCache>
                <c:formatCode>General</c:formatCode>
                <c:ptCount val="4"/>
                <c:pt idx="0">
                  <c:v>12</c:v>
                </c:pt>
                <c:pt idx="1">
                  <c:v>15</c:v>
                </c:pt>
                <c:pt idx="2">
                  <c:v>18</c:v>
                </c:pt>
                <c:pt idx="3">
                  <c:v>22</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22A35"/>
                </a:solidFill>
              </a:rPr>
              <a:t>Quarterly revenue</a:t>
            </a:r>
          </a:p>
        </c:rich>
      </c:tx>
      <c:layout/>
      <c:overlay val="0"/>
    </c:title>
    <c:autoTitleDeleted val="0"/>
    <c:plotArea>
      <c:barChart>
        <c:barDir val="col"/>
        <c:grouping val="clustered"/>
        <c:ser>
          <c:idx val="0"/>
          <c:order val="0"/>
          <c:tx>
            <c:strRef>
              <c:f>Sheet1!$B$1</c:f>
              <c:strCache>
                <c:ptCount val="1"/>
                <c:pt idx="0">
                  <c:v>Revenue ($M)</c:v>
                </c:pt>
              </c:strCache>
            </c:strRef>
          </c:tx>
          <c:cat>
            <c:strRef>
              <c:f>Sheet1!$A$2:$A$5</c:f>
              <c:strCache>
                <c:ptCount val="4"/>
                <c:pt idx="0">
                  <c:v>Q1</c:v>
                </c:pt>
                <c:pt idx="1">
                  <c:v>Q2</c:v>
                </c:pt>
                <c:pt idx="2">
                  <c:v>Q3</c:v>
                </c:pt>
                <c:pt idx="3">
                  <c:v>Q4 (E)</c:v>
                </c:pt>
              </c:strCache>
            </c:strRef>
          </c:cat>
          <c:val>
            <c:numRef>
              <c:f>Sheet1!$B$2:$B$5</c:f>
              <c:numCache>
                <c:formatCode>General</c:formatCode>
                <c:ptCount val="4"/>
                <c:pt idx="0">
                  <c:v>28</c:v>
                </c:pt>
                <c:pt idx="1">
                  <c:v>33</c:v>
                </c:pt>
                <c:pt idx="2">
                  <c:v>41</c:v>
                </c:pt>
                <c:pt idx="3">
                  <c:v>48</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640080"/>
          </a:xfrm>
          <a:prstGeom prst="rect">
            <a:avLst/>
          </a:prstGeom>
          <a:noFill/>
        </p:spPr>
        <p:txBody>
          <a:bodyPr wrap="none" lIns="0" rIns="0" tIns="0" bIns="0">
            <a:spAutoFit/>
          </a:bodyPr>
          <a:lstStyle/>
          <a:p>
            <a:r>
              <a:rPr sz="2800" b="1">
                <a:solidFill>
                  <a:srgbClr val="222A35"/>
                </a:solidFill>
                <a:latin typeface="Calibri"/>
              </a:rPr>
              <a:t>Quarterly Revenue Highlights</a:t>
            </a:r>
          </a:p>
        </p:txBody>
      </p:sp>
      <p:sp>
        <p:nvSpPr>
          <p:cNvPr id="3" name="Rectangle 2"/>
          <p:cNvSpPr/>
          <p:nvPr/>
        </p:nvSpPr>
        <p:spPr>
          <a:xfrm>
            <a:off x="457200" y="987552"/>
            <a:ext cx="640080" cy="28575"/>
          </a:xfrm>
          <a:prstGeom prst="rect">
            <a:avLst/>
          </a:prstGeom>
          <a:solidFill>
            <a:srgbClr val="1F4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5880"/>
            <a:ext cx="5303520" cy="4754880"/>
          </a:xfrm>
          <a:prstGeom prst="rect">
            <a:avLst/>
          </a:prstGeom>
          <a:noFill/>
        </p:spPr>
        <p:txBody>
          <a:bodyPr wrap="square">
            <a:spAutoFit/>
          </a:bodyPr>
          <a:lstStyle/>
          <a:p>
            <a:pPr>
              <a:spcAft>
                <a:spcPts val="800"/>
              </a:spcAft>
            </a:pPr>
            <a:r>
              <a:rPr sz="1600">
                <a:solidFill>
                  <a:srgbClr val="222A35"/>
                </a:solidFill>
                <a:latin typeface="Calibri"/>
              </a:rPr>
              <a:t>•  Strong rebound vs. prior period</a:t>
            </a:r>
          </a:p>
          <a:p>
            <a:pPr>
              <a:spcAft>
                <a:spcPts val="800"/>
              </a:spcAft>
            </a:pPr>
            <a:r>
              <a:rPr sz="1600">
                <a:solidFill>
                  <a:srgbClr val="222A35"/>
                </a:solidFill>
                <a:latin typeface="Calibri"/>
              </a:rPr>
              <a:t>•  EMEA leads regional growth</a:t>
            </a:r>
          </a:p>
          <a:p>
            <a:pPr>
              <a:spcAft>
                <a:spcPts val="800"/>
              </a:spcAft>
            </a:pPr>
            <a:r>
              <a:rPr sz="1600">
                <a:solidFill>
                  <a:srgbClr val="222A35"/>
                </a:solidFill>
                <a:latin typeface="Calibri"/>
              </a:rPr>
              <a:t>•  Margin recovered to plan</a:t>
            </a:r>
          </a:p>
          <a:p>
            <a:pPr>
              <a:spcAft>
                <a:spcPts val="800"/>
              </a:spcAft>
            </a:pPr>
            <a:r>
              <a:rPr sz="1600">
                <a:solidFill>
                  <a:srgbClr val="222A35"/>
                </a:solidFill>
                <a:latin typeface="Calibri"/>
              </a:rPr>
              <a:t>•  New logo motion fully ramped</a:t>
            </a:r>
          </a:p>
          <a:p>
            <a:pPr>
              <a:spcAft>
                <a:spcPts val="800"/>
              </a:spcAft>
            </a:pPr>
            <a:r>
              <a:rPr sz="1600">
                <a:solidFill>
                  <a:srgbClr val="222A35"/>
                </a:solidFill>
                <a:latin typeface="Calibri"/>
              </a:rPr>
              <a:t>•  Pipeline coverage healthy into Q4</a:t>
            </a:r>
          </a:p>
        </p:txBody>
      </p:sp>
      <p:graphicFrame>
        <p:nvGraphicFramePr>
          <p:cNvPr id="5" name="Chart 4"/>
          <p:cNvGraphicFramePr>
            <a:graphicFrameLocks noGrp="1"/>
          </p:cNvGraphicFramePr>
          <p:nvPr/>
        </p:nvGraphicFramePr>
        <p:xfrm>
          <a:off x="6126480" y="1325880"/>
          <a:ext cx="5605272" cy="4754880"/>
        </p:xfrm>
        <a:graphic>
          <a:graphicData uri="http://schemas.openxmlformats.org/drawingml/2006/chart">
            <c:chart xmlns:c="http://schemas.openxmlformats.org/drawingml/2006/chart" r:id="rId2"/>
          </a:graphicData>
        </a:graphic>
      </p:graphicFrame>
      <p:sp>
        <p:nvSpPr>
          <p:cNvPr id="6" name="TextBox 5"/>
          <p:cNvSpPr txBox="1"/>
          <p:nvPr/>
        </p:nvSpPr>
        <p:spPr>
          <a:xfrm>
            <a:off x="457200" y="6400800"/>
            <a:ext cx="11274552" cy="274320"/>
          </a:xfrm>
          <a:prstGeom prst="rect">
            <a:avLst/>
          </a:prstGeom>
          <a:noFill/>
        </p:spPr>
        <p:txBody>
          <a:bodyPr wrap="none">
            <a:spAutoFit/>
          </a:bodyPr>
          <a:lstStyle/>
          <a:p>
            <a:r>
              <a:rPr sz="900">
                <a:solidFill>
                  <a:srgbClr val="6B7382"/>
                </a:solidFill>
                <a:latin typeface="Calibri"/>
              </a:rPr>
              <a:t>Template 1 · bullets + bar chart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640080"/>
          </a:xfrm>
          <a:prstGeom prst="rect">
            <a:avLst/>
          </a:prstGeom>
          <a:noFill/>
        </p:spPr>
        <p:txBody>
          <a:bodyPr wrap="none" lIns="0" rIns="0" tIns="0" bIns="0">
            <a:spAutoFit/>
          </a:bodyPr>
          <a:lstStyle/>
          <a:p>
            <a:r>
              <a:rPr sz="2800" b="1">
                <a:solidFill>
                  <a:srgbClr val="222A35"/>
                </a:solidFill>
                <a:latin typeface="Calibri"/>
              </a:rPr>
              <a:t>Adoption Trend — Last 12 Months</a:t>
            </a:r>
          </a:p>
        </p:txBody>
      </p:sp>
      <p:sp>
        <p:nvSpPr>
          <p:cNvPr id="3" name="Rectangle 2"/>
          <p:cNvSpPr/>
          <p:nvPr/>
        </p:nvSpPr>
        <p:spPr>
          <a:xfrm>
            <a:off x="457200" y="987552"/>
            <a:ext cx="640080" cy="28575"/>
          </a:xfrm>
          <a:prstGeom prst="rect">
            <a:avLst/>
          </a:prstGeom>
          <a:solidFill>
            <a:srgbClr val="1F4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5880"/>
            <a:ext cx="5303520" cy="4754880"/>
          </a:xfrm>
          <a:prstGeom prst="rect">
            <a:avLst/>
          </a:prstGeom>
          <a:noFill/>
        </p:spPr>
        <p:txBody>
          <a:bodyPr wrap="square">
            <a:spAutoFit/>
          </a:bodyPr>
          <a:lstStyle/>
          <a:p>
            <a:pPr>
              <a:spcAft>
                <a:spcPts val="800"/>
              </a:spcAft>
            </a:pPr>
            <a:r>
              <a:rPr sz="1600">
                <a:solidFill>
                  <a:srgbClr val="222A35"/>
                </a:solidFill>
                <a:latin typeface="Calibri"/>
              </a:rPr>
              <a:t>•  Steady month-over-month gains</a:t>
            </a:r>
          </a:p>
          <a:p>
            <a:pPr>
              <a:spcAft>
                <a:spcPts val="800"/>
              </a:spcAft>
            </a:pPr>
            <a:r>
              <a:rPr sz="1600">
                <a:solidFill>
                  <a:srgbClr val="222A35"/>
                </a:solidFill>
                <a:latin typeface="Calibri"/>
              </a:rPr>
              <a:t>•  Inflection at the May release</a:t>
            </a:r>
          </a:p>
          <a:p>
            <a:pPr>
              <a:spcAft>
                <a:spcPts val="800"/>
              </a:spcAft>
            </a:pPr>
            <a:r>
              <a:rPr sz="1600">
                <a:solidFill>
                  <a:srgbClr val="222A35"/>
                </a:solidFill>
                <a:latin typeface="Calibri"/>
              </a:rPr>
              <a:t>•  Plateau in late summer, expected</a:t>
            </a:r>
          </a:p>
          <a:p>
            <a:pPr>
              <a:spcAft>
                <a:spcPts val="800"/>
              </a:spcAft>
            </a:pPr>
            <a:r>
              <a:rPr sz="1600">
                <a:solidFill>
                  <a:srgbClr val="222A35"/>
                </a:solidFill>
                <a:latin typeface="Calibri"/>
              </a:rPr>
              <a:t>•  Q4 push tied to onboarding revamp</a:t>
            </a:r>
          </a:p>
        </p:txBody>
      </p:sp>
      <p:graphicFrame>
        <p:nvGraphicFramePr>
          <p:cNvPr id="5" name="Chart 4"/>
          <p:cNvGraphicFramePr>
            <a:graphicFrameLocks noGrp="1"/>
          </p:cNvGraphicFramePr>
          <p:nvPr/>
        </p:nvGraphicFramePr>
        <p:xfrm>
          <a:off x="6126480" y="1325880"/>
          <a:ext cx="5605272" cy="4754880"/>
        </p:xfrm>
        <a:graphic>
          <a:graphicData uri="http://schemas.openxmlformats.org/drawingml/2006/chart">
            <c:chart xmlns:c="http://schemas.openxmlformats.org/drawingml/2006/chart" r:id="rId2"/>
          </a:graphicData>
        </a:graphic>
      </p:graphicFrame>
      <p:sp>
        <p:nvSpPr>
          <p:cNvPr id="6" name="TextBox 5"/>
          <p:cNvSpPr txBox="1"/>
          <p:nvPr/>
        </p:nvSpPr>
        <p:spPr>
          <a:xfrm>
            <a:off x="457200" y="6400800"/>
            <a:ext cx="11274552" cy="274320"/>
          </a:xfrm>
          <a:prstGeom prst="rect">
            <a:avLst/>
          </a:prstGeom>
          <a:noFill/>
        </p:spPr>
        <p:txBody>
          <a:bodyPr wrap="none">
            <a:spAutoFit/>
          </a:bodyPr>
          <a:lstStyle/>
          <a:p>
            <a:r>
              <a:rPr sz="900">
                <a:solidFill>
                  <a:srgbClr val="6B7382"/>
                </a:solidFill>
                <a:latin typeface="Calibri"/>
              </a:rPr>
              <a:t>Template 2 · bullets + line chart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640080"/>
          </a:xfrm>
          <a:prstGeom prst="rect">
            <a:avLst/>
          </a:prstGeom>
          <a:noFill/>
        </p:spPr>
        <p:txBody>
          <a:bodyPr wrap="none" lIns="0" rIns="0" tIns="0" bIns="0">
            <a:spAutoFit/>
          </a:bodyPr>
          <a:lstStyle/>
          <a:p>
            <a:r>
              <a:rPr sz="2800" b="1">
                <a:solidFill>
                  <a:srgbClr val="222A35"/>
                </a:solidFill>
                <a:latin typeface="Calibri"/>
              </a:rPr>
              <a:t>Revenue Mix by Product Line</a:t>
            </a:r>
          </a:p>
        </p:txBody>
      </p:sp>
      <p:sp>
        <p:nvSpPr>
          <p:cNvPr id="3" name="Rectangle 2"/>
          <p:cNvSpPr/>
          <p:nvPr/>
        </p:nvSpPr>
        <p:spPr>
          <a:xfrm>
            <a:off x="457200" y="987552"/>
            <a:ext cx="640080" cy="28575"/>
          </a:xfrm>
          <a:prstGeom prst="rect">
            <a:avLst/>
          </a:prstGeom>
          <a:solidFill>
            <a:srgbClr val="1F4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5880"/>
            <a:ext cx="5303520" cy="4754880"/>
          </a:xfrm>
          <a:prstGeom prst="rect">
            <a:avLst/>
          </a:prstGeom>
          <a:noFill/>
        </p:spPr>
        <p:txBody>
          <a:bodyPr wrap="square">
            <a:spAutoFit/>
          </a:bodyPr>
          <a:lstStyle/>
          <a:p>
            <a:pPr>
              <a:spcAft>
                <a:spcPts val="800"/>
              </a:spcAft>
            </a:pPr>
            <a:r>
              <a:rPr sz="1600">
                <a:solidFill>
                  <a:srgbClr val="222A35"/>
                </a:solidFill>
                <a:latin typeface="Calibri"/>
              </a:rPr>
              <a:t>•  Platform remains the anchor</a:t>
            </a:r>
          </a:p>
          <a:p>
            <a:pPr>
              <a:spcAft>
                <a:spcPts val="800"/>
              </a:spcAft>
            </a:pPr>
            <a:r>
              <a:rPr sz="1600">
                <a:solidFill>
                  <a:srgbClr val="222A35"/>
                </a:solidFill>
                <a:latin typeface="Calibri"/>
              </a:rPr>
              <a:t>•  Add-ons crossed 20% mix</a:t>
            </a:r>
          </a:p>
          <a:p>
            <a:pPr>
              <a:spcAft>
                <a:spcPts val="800"/>
              </a:spcAft>
            </a:pPr>
            <a:r>
              <a:rPr sz="1600">
                <a:solidFill>
                  <a:srgbClr val="222A35"/>
                </a:solidFill>
                <a:latin typeface="Calibri"/>
              </a:rPr>
              <a:t>•  Services held steady at 11%</a:t>
            </a:r>
          </a:p>
          <a:p>
            <a:pPr>
              <a:spcAft>
                <a:spcPts val="800"/>
              </a:spcAft>
            </a:pPr>
            <a:r>
              <a:rPr sz="1600">
                <a:solidFill>
                  <a:srgbClr val="222A35"/>
                </a:solidFill>
                <a:latin typeface="Calibri"/>
              </a:rPr>
              <a:t>•  Targeting 25% add-on mix by EOY</a:t>
            </a:r>
          </a:p>
        </p:txBody>
      </p:sp>
      <p:graphicFrame>
        <p:nvGraphicFramePr>
          <p:cNvPr id="5" name="Chart 4"/>
          <p:cNvGraphicFramePr>
            <a:graphicFrameLocks noGrp="1"/>
          </p:cNvGraphicFramePr>
          <p:nvPr/>
        </p:nvGraphicFramePr>
        <p:xfrm>
          <a:off x="6126480" y="1325880"/>
          <a:ext cx="5605272" cy="4754880"/>
        </p:xfrm>
        <a:graphic>
          <a:graphicData uri="http://schemas.openxmlformats.org/drawingml/2006/chart">
            <c:chart xmlns:c="http://schemas.openxmlformats.org/drawingml/2006/chart" r:id="rId2"/>
          </a:graphicData>
        </a:graphic>
      </p:graphicFrame>
      <p:sp>
        <p:nvSpPr>
          <p:cNvPr id="6" name="TextBox 5"/>
          <p:cNvSpPr txBox="1"/>
          <p:nvPr/>
        </p:nvSpPr>
        <p:spPr>
          <a:xfrm>
            <a:off x="457200" y="6400800"/>
            <a:ext cx="11274552" cy="274320"/>
          </a:xfrm>
          <a:prstGeom prst="rect">
            <a:avLst/>
          </a:prstGeom>
          <a:noFill/>
        </p:spPr>
        <p:txBody>
          <a:bodyPr wrap="none">
            <a:spAutoFit/>
          </a:bodyPr>
          <a:lstStyle/>
          <a:p>
            <a:r>
              <a:rPr sz="900">
                <a:solidFill>
                  <a:srgbClr val="6B7382"/>
                </a:solidFill>
                <a:latin typeface="Calibri"/>
              </a:rPr>
              <a:t>Template 3 · bullets + pie chart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640080"/>
          </a:xfrm>
          <a:prstGeom prst="rect">
            <a:avLst/>
          </a:prstGeom>
          <a:noFill/>
        </p:spPr>
        <p:txBody>
          <a:bodyPr wrap="none" lIns="0" rIns="0" tIns="0" bIns="0">
            <a:spAutoFit/>
          </a:bodyPr>
          <a:lstStyle/>
          <a:p>
            <a:r>
              <a:rPr sz="2800" b="1">
                <a:solidFill>
                  <a:srgbClr val="222A35"/>
                </a:solidFill>
                <a:latin typeface="Calibri"/>
              </a:rPr>
              <a:t>Product Walkthrough</a:t>
            </a:r>
          </a:p>
        </p:txBody>
      </p:sp>
      <p:sp>
        <p:nvSpPr>
          <p:cNvPr id="3" name="Rectangle 2"/>
          <p:cNvSpPr/>
          <p:nvPr/>
        </p:nvSpPr>
        <p:spPr>
          <a:xfrm>
            <a:off x="457200" y="987552"/>
            <a:ext cx="640080" cy="28575"/>
          </a:xfrm>
          <a:prstGeom prst="rect">
            <a:avLst/>
          </a:prstGeom>
          <a:solidFill>
            <a:srgbClr val="1F4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5880"/>
            <a:ext cx="5303520" cy="4754880"/>
          </a:xfrm>
          <a:prstGeom prst="rect">
            <a:avLst/>
          </a:prstGeom>
          <a:noFill/>
        </p:spPr>
        <p:txBody>
          <a:bodyPr wrap="square">
            <a:spAutoFit/>
          </a:bodyPr>
          <a:lstStyle/>
          <a:p>
            <a:pPr>
              <a:spcAft>
                <a:spcPts val="800"/>
              </a:spcAft>
            </a:pPr>
            <a:r>
              <a:rPr sz="1600">
                <a:solidFill>
                  <a:srgbClr val="222A35"/>
                </a:solidFill>
                <a:latin typeface="Calibri"/>
              </a:rPr>
              <a:t>•  Updated home dashboard</a:t>
            </a:r>
          </a:p>
          <a:p>
            <a:pPr>
              <a:spcAft>
                <a:spcPts val="800"/>
              </a:spcAft>
            </a:pPr>
            <a:r>
              <a:rPr sz="1600">
                <a:solidFill>
                  <a:srgbClr val="222A35"/>
                </a:solidFill>
                <a:latin typeface="Calibri"/>
              </a:rPr>
              <a:t>•  One-click templates panel</a:t>
            </a:r>
          </a:p>
          <a:p>
            <a:pPr>
              <a:spcAft>
                <a:spcPts val="800"/>
              </a:spcAft>
            </a:pPr>
            <a:r>
              <a:rPr sz="1600">
                <a:solidFill>
                  <a:srgbClr val="222A35"/>
                </a:solidFill>
                <a:latin typeface="Calibri"/>
              </a:rPr>
              <a:t>•  New keyboard-driven nav</a:t>
            </a:r>
          </a:p>
          <a:p>
            <a:pPr>
              <a:spcAft>
                <a:spcPts val="800"/>
              </a:spcAft>
            </a:pPr>
            <a:r>
              <a:rPr sz="1600">
                <a:solidFill>
                  <a:srgbClr val="222A35"/>
                </a:solidFill>
                <a:latin typeface="Calibri"/>
              </a:rPr>
              <a:t>•  Inline review and accept</a:t>
            </a:r>
          </a:p>
        </p:txBody>
      </p:sp>
      <p:pic>
        <p:nvPicPr>
          <p:cNvPr id="5" name="Picture 4" descr="image.png"/>
          <p:cNvPicPr>
            <a:picLocks noChangeAspect="1"/>
          </p:cNvPicPr>
          <p:nvPr/>
        </p:nvPicPr>
        <p:blipFill>
          <a:blip r:embed="rId2"/>
          <a:stretch>
            <a:fillRect/>
          </a:stretch>
        </p:blipFill>
        <p:spPr>
          <a:xfrm>
            <a:off x="6126480" y="1325880"/>
            <a:ext cx="5605272" cy="4754880"/>
          </a:xfrm>
          <a:prstGeom prst="rect">
            <a:avLst/>
          </a:prstGeom>
        </p:spPr>
      </p:pic>
      <p:sp>
        <p:nvSpPr>
          <p:cNvPr id="6" name="TextBox 5"/>
          <p:cNvSpPr txBox="1"/>
          <p:nvPr/>
        </p:nvSpPr>
        <p:spPr>
          <a:xfrm>
            <a:off x="457200" y="6400800"/>
            <a:ext cx="11274552" cy="274320"/>
          </a:xfrm>
          <a:prstGeom prst="rect">
            <a:avLst/>
          </a:prstGeom>
          <a:noFill/>
        </p:spPr>
        <p:txBody>
          <a:bodyPr wrap="none">
            <a:spAutoFit/>
          </a:bodyPr>
          <a:lstStyle/>
          <a:p>
            <a:r>
              <a:rPr sz="900">
                <a:solidFill>
                  <a:srgbClr val="6B7382"/>
                </a:solidFill>
                <a:latin typeface="Calibri"/>
              </a:rPr>
              <a:t>Template 4 · bullets + image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640080"/>
          </a:xfrm>
          <a:prstGeom prst="rect">
            <a:avLst/>
          </a:prstGeom>
          <a:noFill/>
        </p:spPr>
        <p:txBody>
          <a:bodyPr wrap="none" lIns="0" rIns="0" tIns="0" bIns="0">
            <a:spAutoFit/>
          </a:bodyPr>
          <a:lstStyle/>
          <a:p>
            <a:r>
              <a:rPr sz="2800" b="1">
                <a:solidFill>
                  <a:srgbClr val="222A35"/>
                </a:solidFill>
                <a:latin typeface="Calibri"/>
              </a:rPr>
              <a:t>Top Accounts — Status</a:t>
            </a:r>
          </a:p>
        </p:txBody>
      </p:sp>
      <p:sp>
        <p:nvSpPr>
          <p:cNvPr id="3" name="Rectangle 2"/>
          <p:cNvSpPr/>
          <p:nvPr/>
        </p:nvSpPr>
        <p:spPr>
          <a:xfrm>
            <a:off x="457200" y="987552"/>
            <a:ext cx="640080" cy="28575"/>
          </a:xfrm>
          <a:prstGeom prst="rect">
            <a:avLst/>
          </a:prstGeom>
          <a:solidFill>
            <a:srgbClr val="1F4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5880"/>
            <a:ext cx="5303520" cy="4754880"/>
          </a:xfrm>
          <a:prstGeom prst="rect">
            <a:avLst/>
          </a:prstGeom>
          <a:noFill/>
        </p:spPr>
        <p:txBody>
          <a:bodyPr wrap="square">
            <a:spAutoFit/>
          </a:bodyPr>
          <a:lstStyle/>
          <a:p>
            <a:pPr>
              <a:spcAft>
                <a:spcPts val="800"/>
              </a:spcAft>
            </a:pPr>
            <a:r>
              <a:rPr sz="1600">
                <a:solidFill>
                  <a:srgbClr val="222A35"/>
                </a:solidFill>
                <a:latin typeface="Calibri"/>
              </a:rPr>
              <a:t>•  All top-10 are renewal-ready</a:t>
            </a:r>
          </a:p>
          <a:p>
            <a:pPr>
              <a:spcAft>
                <a:spcPts val="800"/>
              </a:spcAft>
            </a:pPr>
            <a:r>
              <a:rPr sz="1600">
                <a:solidFill>
                  <a:srgbClr val="222A35"/>
                </a:solidFill>
                <a:latin typeface="Calibri"/>
              </a:rPr>
              <a:t>•  Two upsell motions in flight</a:t>
            </a:r>
          </a:p>
          <a:p>
            <a:pPr>
              <a:spcAft>
                <a:spcPts val="800"/>
              </a:spcAft>
            </a:pPr>
            <a:r>
              <a:rPr sz="1600">
                <a:solidFill>
                  <a:srgbClr val="222A35"/>
                </a:solidFill>
                <a:latin typeface="Calibri"/>
              </a:rPr>
              <a:t>•  One at-risk with mitigation</a:t>
            </a:r>
          </a:p>
          <a:p>
            <a:pPr>
              <a:spcAft>
                <a:spcPts val="800"/>
              </a:spcAft>
            </a:pPr>
            <a:r>
              <a:rPr sz="1600">
                <a:solidFill>
                  <a:srgbClr val="222A35"/>
                </a:solidFill>
                <a:latin typeface="Calibri"/>
              </a:rPr>
              <a:t>•  Coverage 1.6x on the segment</a:t>
            </a:r>
          </a:p>
        </p:txBody>
      </p:sp>
      <p:graphicFrame>
        <p:nvGraphicFramePr>
          <p:cNvPr id="5" name="Table 4"/>
          <p:cNvGraphicFramePr>
            <a:graphicFrameLocks noGrp="1"/>
          </p:cNvGraphicFramePr>
          <p:nvPr/>
        </p:nvGraphicFramePr>
        <p:xfrm>
          <a:off x="6126480" y="1325880"/>
          <a:ext cx="5605272" cy="4754880"/>
        </p:xfrm>
        <a:graphic>
          <a:graphicData uri="http://schemas.openxmlformats.org/drawingml/2006/table">
            <a:tbl>
              <a:tblPr firstRow="1" bandRow="1">
                <a:tableStyleId>{5C22544A-7EE6-4342-B048-85BDC9FD1C3A}</a:tableStyleId>
              </a:tblPr>
              <a:tblGrid>
                <a:gridCol w="1868424"/>
                <a:gridCol w="1868424"/>
                <a:gridCol w="1868424"/>
              </a:tblGrid>
              <a:tr h="792480">
                <a:tc>
                  <a:txBody>
                    <a:bodyPr/>
                    <a:lstStyle/>
                    <a:p>
                      <a:r>
                        <a:rPr b="1" sz="1200">
                          <a:solidFill>
                            <a:srgbClr val="FFFFFF"/>
                          </a:solidFill>
                        </a:rPr>
                        <a:t>Account</a:t>
                      </a:r>
                    </a:p>
                  </a:txBody>
                  <a:tcPr>
                    <a:solidFill>
                      <a:srgbClr val="1F4E8C"/>
                    </a:solidFill>
                  </a:tcPr>
                </a:tc>
                <a:tc>
                  <a:txBody>
                    <a:bodyPr/>
                    <a:lstStyle/>
                    <a:p>
                      <a:r>
                        <a:rPr b="1" sz="1200">
                          <a:solidFill>
                            <a:srgbClr val="FFFFFF"/>
                          </a:solidFill>
                        </a:rPr>
                        <a:t>ARR</a:t>
                      </a:r>
                    </a:p>
                  </a:txBody>
                  <a:tcPr>
                    <a:solidFill>
                      <a:srgbClr val="1F4E8C"/>
                    </a:solidFill>
                  </a:tcPr>
                </a:tc>
                <a:tc>
                  <a:txBody>
                    <a:bodyPr/>
                    <a:lstStyle/>
                    <a:p>
                      <a:r>
                        <a:rPr b="1" sz="1200">
                          <a:solidFill>
                            <a:srgbClr val="FFFFFF"/>
                          </a:solidFill>
                        </a:rPr>
                        <a:t>Stage</a:t>
                      </a:r>
                    </a:p>
                  </a:txBody>
                  <a:tcPr>
                    <a:solidFill>
                      <a:srgbClr val="1F4E8C"/>
                    </a:solidFill>
                  </a:tcPr>
                </a:tc>
              </a:tr>
              <a:tr h="792480">
                <a:tc>
                  <a:txBody>
                    <a:bodyPr/>
                    <a:lstStyle/>
                    <a:p>
                      <a:r>
                        <a:rPr sz="1200">
                          <a:solidFill>
                            <a:srgbClr val="222A35"/>
                          </a:solidFill>
                        </a:rPr>
                        <a:t>Acme Co.</a:t>
                      </a:r>
                    </a:p>
                  </a:txBody>
                  <a:tcPr/>
                </a:tc>
                <a:tc>
                  <a:txBody>
                    <a:bodyPr/>
                    <a:lstStyle/>
                    <a:p>
                      <a:r>
                        <a:rPr sz="1200">
                          <a:solidFill>
                            <a:srgbClr val="222A35"/>
                          </a:solidFill>
                        </a:rPr>
                        <a:t>$1.2M</a:t>
                      </a:r>
                    </a:p>
                  </a:txBody>
                  <a:tcPr/>
                </a:tc>
                <a:tc>
                  <a:txBody>
                    <a:bodyPr/>
                    <a:lstStyle/>
                    <a:p>
                      <a:r>
                        <a:rPr sz="1200">
                          <a:solidFill>
                            <a:srgbClr val="222A35"/>
                          </a:solidFill>
                        </a:rPr>
                        <a:t>Renewal</a:t>
                      </a:r>
                    </a:p>
                  </a:txBody>
                  <a:tcPr/>
                </a:tc>
              </a:tr>
              <a:tr h="792480">
                <a:tc>
                  <a:txBody>
                    <a:bodyPr/>
                    <a:lstStyle/>
                    <a:p>
                      <a:r>
                        <a:rPr sz="1200">
                          <a:solidFill>
                            <a:srgbClr val="222A35"/>
                          </a:solidFill>
                        </a:rPr>
                        <a:t>Globex</a:t>
                      </a:r>
                    </a:p>
                  </a:txBody>
                  <a:tcPr/>
                </a:tc>
                <a:tc>
                  <a:txBody>
                    <a:bodyPr/>
                    <a:lstStyle/>
                    <a:p>
                      <a:r>
                        <a:rPr sz="1200">
                          <a:solidFill>
                            <a:srgbClr val="222A35"/>
                          </a:solidFill>
                        </a:rPr>
                        <a:t>$0.9M</a:t>
                      </a:r>
                    </a:p>
                  </a:txBody>
                  <a:tcPr/>
                </a:tc>
                <a:tc>
                  <a:txBody>
                    <a:bodyPr/>
                    <a:lstStyle/>
                    <a:p>
                      <a:r>
                        <a:rPr sz="1200">
                          <a:solidFill>
                            <a:srgbClr val="222A35"/>
                          </a:solidFill>
                        </a:rPr>
                        <a:t>Upsell</a:t>
                      </a:r>
                    </a:p>
                  </a:txBody>
                  <a:tcPr/>
                </a:tc>
              </a:tr>
              <a:tr h="792480">
                <a:tc>
                  <a:txBody>
                    <a:bodyPr/>
                    <a:lstStyle/>
                    <a:p>
                      <a:r>
                        <a:rPr sz="1200">
                          <a:solidFill>
                            <a:srgbClr val="222A35"/>
                          </a:solidFill>
                        </a:rPr>
                        <a:t>Initech</a:t>
                      </a:r>
                    </a:p>
                  </a:txBody>
                  <a:tcPr/>
                </a:tc>
                <a:tc>
                  <a:txBody>
                    <a:bodyPr/>
                    <a:lstStyle/>
                    <a:p>
                      <a:r>
                        <a:rPr sz="1200">
                          <a:solidFill>
                            <a:srgbClr val="222A35"/>
                          </a:solidFill>
                        </a:rPr>
                        <a:t>$0.7M</a:t>
                      </a:r>
                    </a:p>
                  </a:txBody>
                  <a:tcPr/>
                </a:tc>
                <a:tc>
                  <a:txBody>
                    <a:bodyPr/>
                    <a:lstStyle/>
                    <a:p>
                      <a:r>
                        <a:rPr sz="1200">
                          <a:solidFill>
                            <a:srgbClr val="222A35"/>
                          </a:solidFill>
                        </a:rPr>
                        <a:t>At risk</a:t>
                      </a:r>
                    </a:p>
                  </a:txBody>
                  <a:tcPr/>
                </a:tc>
              </a:tr>
              <a:tr h="792480">
                <a:tc>
                  <a:txBody>
                    <a:bodyPr/>
                    <a:lstStyle/>
                    <a:p>
                      <a:r>
                        <a:rPr sz="1200">
                          <a:solidFill>
                            <a:srgbClr val="222A35"/>
                          </a:solidFill>
                        </a:rPr>
                        <a:t>Umbrella</a:t>
                      </a:r>
                    </a:p>
                  </a:txBody>
                  <a:tcPr/>
                </a:tc>
                <a:tc>
                  <a:txBody>
                    <a:bodyPr/>
                    <a:lstStyle/>
                    <a:p>
                      <a:r>
                        <a:rPr sz="1200">
                          <a:solidFill>
                            <a:srgbClr val="222A35"/>
                          </a:solidFill>
                        </a:rPr>
                        <a:t>$0.6M</a:t>
                      </a:r>
                    </a:p>
                  </a:txBody>
                  <a:tcPr/>
                </a:tc>
                <a:tc>
                  <a:txBody>
                    <a:bodyPr/>
                    <a:lstStyle/>
                    <a:p>
                      <a:r>
                        <a:rPr sz="1200">
                          <a:solidFill>
                            <a:srgbClr val="222A35"/>
                          </a:solidFill>
                        </a:rPr>
                        <a:t>Renewal</a:t>
                      </a:r>
                    </a:p>
                  </a:txBody>
                  <a:tcPr/>
                </a:tc>
              </a:tr>
              <a:tr h="792480">
                <a:tc>
                  <a:txBody>
                    <a:bodyPr/>
                    <a:lstStyle/>
                    <a:p>
                      <a:r>
                        <a:rPr sz="1200">
                          <a:solidFill>
                            <a:srgbClr val="222A35"/>
                          </a:solidFill>
                        </a:rPr>
                        <a:t>Stark Ind.</a:t>
                      </a:r>
                    </a:p>
                  </a:txBody>
                  <a:tcPr/>
                </a:tc>
                <a:tc>
                  <a:txBody>
                    <a:bodyPr/>
                    <a:lstStyle/>
                    <a:p>
                      <a:r>
                        <a:rPr sz="1200">
                          <a:solidFill>
                            <a:srgbClr val="222A35"/>
                          </a:solidFill>
                        </a:rPr>
                        <a:t>$0.5M</a:t>
                      </a:r>
                    </a:p>
                  </a:txBody>
                  <a:tcPr/>
                </a:tc>
                <a:tc>
                  <a:txBody>
                    <a:bodyPr/>
                    <a:lstStyle/>
                    <a:p>
                      <a:r>
                        <a:rPr sz="1200">
                          <a:solidFill>
                            <a:srgbClr val="222A35"/>
                          </a:solidFill>
                        </a:rPr>
                        <a:t>Renewal</a:t>
                      </a:r>
                    </a:p>
                  </a:txBody>
                  <a:tcPr/>
                </a:tc>
              </a:tr>
            </a:tbl>
          </a:graphicData>
        </a:graphic>
      </p:graphicFrame>
      <p:sp>
        <p:nvSpPr>
          <p:cNvPr id="6" name="TextBox 5"/>
          <p:cNvSpPr txBox="1"/>
          <p:nvPr/>
        </p:nvSpPr>
        <p:spPr>
          <a:xfrm>
            <a:off x="457200" y="6400800"/>
            <a:ext cx="11274552" cy="274320"/>
          </a:xfrm>
          <a:prstGeom prst="rect">
            <a:avLst/>
          </a:prstGeom>
          <a:noFill/>
        </p:spPr>
        <p:txBody>
          <a:bodyPr wrap="none">
            <a:spAutoFit/>
          </a:bodyPr>
          <a:lstStyle/>
          <a:p>
            <a:r>
              <a:rPr sz="900">
                <a:solidFill>
                  <a:srgbClr val="6B7382"/>
                </a:solidFill>
                <a:latin typeface="Calibri"/>
              </a:rPr>
              <a:t>Template 5 · bullets + table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640080"/>
          </a:xfrm>
          <a:prstGeom prst="rect">
            <a:avLst/>
          </a:prstGeom>
          <a:noFill/>
        </p:spPr>
        <p:txBody>
          <a:bodyPr wrap="none" lIns="0" rIns="0" tIns="0" bIns="0">
            <a:spAutoFit/>
          </a:bodyPr>
          <a:lstStyle/>
          <a:p>
            <a:r>
              <a:rPr sz="2800" b="1">
                <a:solidFill>
                  <a:srgbClr val="222A35"/>
                </a:solidFill>
                <a:latin typeface="Calibri"/>
              </a:rPr>
              <a:t>Operating Leverage Improving</a:t>
            </a:r>
          </a:p>
        </p:txBody>
      </p:sp>
      <p:sp>
        <p:nvSpPr>
          <p:cNvPr id="3" name="Rectangle 2"/>
          <p:cNvSpPr/>
          <p:nvPr/>
        </p:nvSpPr>
        <p:spPr>
          <a:xfrm>
            <a:off x="457200" y="987552"/>
            <a:ext cx="640080" cy="28575"/>
          </a:xfrm>
          <a:prstGeom prst="rect">
            <a:avLst/>
          </a:prstGeom>
          <a:solidFill>
            <a:srgbClr val="1F4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5880"/>
            <a:ext cx="5303520" cy="4754880"/>
          </a:xfrm>
          <a:prstGeom prst="rect">
            <a:avLst/>
          </a:prstGeom>
          <a:noFill/>
        </p:spPr>
        <p:txBody>
          <a:bodyPr wrap="square">
            <a:spAutoFit/>
          </a:bodyPr>
          <a:lstStyle/>
          <a:p>
            <a:r>
              <a:rPr sz="1500">
                <a:solidFill>
                  <a:srgbClr val="222A35"/>
                </a:solidFill>
                <a:latin typeface="Calibri"/>
              </a:rPr>
              <a:t>Operating margin expanded for the fourth consecutive quarter as the platform-mix shift fed through to gross margin and headcount growth continued to lag revenue. Q3 marks the first period above the 20% operating-margin target set at the start of the year.</a:t>
            </a:r>
          </a:p>
        </p:txBody>
      </p:sp>
      <p:graphicFrame>
        <p:nvGraphicFramePr>
          <p:cNvPr id="5" name="Chart 4"/>
          <p:cNvGraphicFramePr>
            <a:graphicFrameLocks noGrp="1"/>
          </p:cNvGraphicFramePr>
          <p:nvPr/>
        </p:nvGraphicFramePr>
        <p:xfrm>
          <a:off x="6126480" y="1325880"/>
          <a:ext cx="5605272" cy="4754880"/>
        </p:xfrm>
        <a:graphic>
          <a:graphicData uri="http://schemas.openxmlformats.org/drawingml/2006/chart">
            <c:chart xmlns:c="http://schemas.openxmlformats.org/drawingml/2006/chart" r:id="rId2"/>
          </a:graphicData>
        </a:graphic>
      </p:graphicFrame>
      <p:sp>
        <p:nvSpPr>
          <p:cNvPr id="6" name="TextBox 5"/>
          <p:cNvSpPr txBox="1"/>
          <p:nvPr/>
        </p:nvSpPr>
        <p:spPr>
          <a:xfrm>
            <a:off x="457200" y="6400800"/>
            <a:ext cx="11274552" cy="274320"/>
          </a:xfrm>
          <a:prstGeom prst="rect">
            <a:avLst/>
          </a:prstGeom>
          <a:noFill/>
        </p:spPr>
        <p:txBody>
          <a:bodyPr wrap="none">
            <a:spAutoFit/>
          </a:bodyPr>
          <a:lstStyle/>
          <a:p>
            <a:r>
              <a:rPr sz="900">
                <a:solidFill>
                  <a:srgbClr val="6B7382"/>
                </a:solidFill>
                <a:latin typeface="Calibri"/>
              </a:rPr>
              <a:t>Template 6 · paragraph + column chart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640080"/>
          </a:xfrm>
          <a:prstGeom prst="rect">
            <a:avLst/>
          </a:prstGeom>
          <a:noFill/>
        </p:spPr>
        <p:txBody>
          <a:bodyPr wrap="none" lIns="0" rIns="0" tIns="0" bIns="0">
            <a:spAutoFit/>
          </a:bodyPr>
          <a:lstStyle/>
          <a:p>
            <a:r>
              <a:rPr sz="2800" b="1">
                <a:solidFill>
                  <a:srgbClr val="222A35"/>
                </a:solidFill>
                <a:latin typeface="Calibri"/>
              </a:rPr>
              <a:t>New Onboarding Experience</a:t>
            </a:r>
          </a:p>
        </p:txBody>
      </p:sp>
      <p:sp>
        <p:nvSpPr>
          <p:cNvPr id="3" name="Rectangle 2"/>
          <p:cNvSpPr/>
          <p:nvPr/>
        </p:nvSpPr>
        <p:spPr>
          <a:xfrm>
            <a:off x="457200" y="987552"/>
            <a:ext cx="640080" cy="28575"/>
          </a:xfrm>
          <a:prstGeom prst="rect">
            <a:avLst/>
          </a:prstGeom>
          <a:solidFill>
            <a:srgbClr val="1F4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5880"/>
            <a:ext cx="5303520" cy="4754880"/>
          </a:xfrm>
          <a:prstGeom prst="rect">
            <a:avLst/>
          </a:prstGeom>
          <a:noFill/>
        </p:spPr>
        <p:txBody>
          <a:bodyPr wrap="square">
            <a:spAutoFit/>
          </a:bodyPr>
          <a:lstStyle/>
          <a:p>
            <a:r>
              <a:rPr sz="1500">
                <a:solidFill>
                  <a:srgbClr val="222A35"/>
                </a:solidFill>
                <a:latin typeface="Calibri"/>
              </a:rPr>
              <a:t>We rebuilt onboarding around a single guided checklist, with the team's most-used templates surfaced inline. Early users complete the first action in under three minutes and reach the activation event twice as fast as the previous flow.</a:t>
            </a:r>
          </a:p>
        </p:txBody>
      </p:sp>
      <p:pic>
        <p:nvPicPr>
          <p:cNvPr id="5" name="Picture 4" descr="image.png"/>
          <p:cNvPicPr>
            <a:picLocks noChangeAspect="1"/>
          </p:cNvPicPr>
          <p:nvPr/>
        </p:nvPicPr>
        <p:blipFill>
          <a:blip r:embed="rId2"/>
          <a:stretch>
            <a:fillRect/>
          </a:stretch>
        </p:blipFill>
        <p:spPr>
          <a:xfrm>
            <a:off x="6126480" y="1325880"/>
            <a:ext cx="5605272" cy="4754880"/>
          </a:xfrm>
          <a:prstGeom prst="rect">
            <a:avLst/>
          </a:prstGeom>
        </p:spPr>
      </p:pic>
      <p:sp>
        <p:nvSpPr>
          <p:cNvPr id="6" name="TextBox 5"/>
          <p:cNvSpPr txBox="1"/>
          <p:nvPr/>
        </p:nvSpPr>
        <p:spPr>
          <a:xfrm>
            <a:off x="457200" y="6400800"/>
            <a:ext cx="11274552" cy="274320"/>
          </a:xfrm>
          <a:prstGeom prst="rect">
            <a:avLst/>
          </a:prstGeom>
          <a:noFill/>
        </p:spPr>
        <p:txBody>
          <a:bodyPr wrap="none">
            <a:spAutoFit/>
          </a:bodyPr>
          <a:lstStyle/>
          <a:p>
            <a:r>
              <a:rPr sz="900">
                <a:solidFill>
                  <a:srgbClr val="6B7382"/>
                </a:solidFill>
                <a:latin typeface="Calibri"/>
              </a:rPr>
              <a:t>Template 7 · paragraph + image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640080"/>
          </a:xfrm>
          <a:prstGeom prst="rect">
            <a:avLst/>
          </a:prstGeom>
          <a:noFill/>
        </p:spPr>
        <p:txBody>
          <a:bodyPr wrap="none" lIns="0" rIns="0" tIns="0" bIns="0">
            <a:spAutoFit/>
          </a:bodyPr>
          <a:lstStyle/>
          <a:p>
            <a:r>
              <a:rPr sz="2800" b="1">
                <a:solidFill>
                  <a:srgbClr val="222A35"/>
                </a:solidFill>
                <a:latin typeface="Calibri"/>
              </a:rPr>
              <a:t>Headcount Plan — Next Two Quarters</a:t>
            </a:r>
          </a:p>
        </p:txBody>
      </p:sp>
      <p:sp>
        <p:nvSpPr>
          <p:cNvPr id="3" name="Rectangle 2"/>
          <p:cNvSpPr/>
          <p:nvPr/>
        </p:nvSpPr>
        <p:spPr>
          <a:xfrm>
            <a:off x="457200" y="987552"/>
            <a:ext cx="640080" cy="28575"/>
          </a:xfrm>
          <a:prstGeom prst="rect">
            <a:avLst/>
          </a:prstGeom>
          <a:solidFill>
            <a:srgbClr val="1F4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5880"/>
            <a:ext cx="5303520" cy="4754880"/>
          </a:xfrm>
          <a:prstGeom prst="rect">
            <a:avLst/>
          </a:prstGeom>
          <a:noFill/>
        </p:spPr>
        <p:txBody>
          <a:bodyPr wrap="square">
            <a:spAutoFit/>
          </a:bodyPr>
          <a:lstStyle/>
          <a:p>
            <a:r>
              <a:rPr sz="1500">
                <a:solidFill>
                  <a:srgbClr val="222A35"/>
                </a:solidFill>
                <a:latin typeface="Calibri"/>
              </a:rPr>
              <a:t>The plan front-loads engineering hiring to support the Q1 roadmap, then opens GTM capacity once the new playbook is rolled out. All roles are open as of the start of the next quarter and recruiting capacity is in place to fill them at the cadence shown.</a:t>
            </a:r>
          </a:p>
        </p:txBody>
      </p:sp>
      <p:graphicFrame>
        <p:nvGraphicFramePr>
          <p:cNvPr id="5" name="Table 4"/>
          <p:cNvGraphicFramePr>
            <a:graphicFrameLocks noGrp="1"/>
          </p:cNvGraphicFramePr>
          <p:nvPr/>
        </p:nvGraphicFramePr>
        <p:xfrm>
          <a:off x="6126480" y="1325880"/>
          <a:ext cx="5605272" cy="4754880"/>
        </p:xfrm>
        <a:graphic>
          <a:graphicData uri="http://schemas.openxmlformats.org/drawingml/2006/table">
            <a:tbl>
              <a:tblPr firstRow="1" bandRow="1">
                <a:tableStyleId>{5C22544A-7EE6-4342-B048-85BDC9FD1C3A}</a:tableStyleId>
              </a:tblPr>
              <a:tblGrid>
                <a:gridCol w="1868424"/>
                <a:gridCol w="1868424"/>
                <a:gridCol w="1868424"/>
              </a:tblGrid>
              <a:tr h="950976">
                <a:tc>
                  <a:txBody>
                    <a:bodyPr/>
                    <a:lstStyle/>
                    <a:p>
                      <a:r>
                        <a:rPr b="1" sz="1200">
                          <a:solidFill>
                            <a:srgbClr val="FFFFFF"/>
                          </a:solidFill>
                        </a:rPr>
                        <a:t>Function</a:t>
                      </a:r>
                    </a:p>
                  </a:txBody>
                  <a:tcPr>
                    <a:solidFill>
                      <a:srgbClr val="1F4E8C"/>
                    </a:solidFill>
                  </a:tcPr>
                </a:tc>
                <a:tc>
                  <a:txBody>
                    <a:bodyPr/>
                    <a:lstStyle/>
                    <a:p>
                      <a:r>
                        <a:rPr b="1" sz="1200">
                          <a:solidFill>
                            <a:srgbClr val="FFFFFF"/>
                          </a:solidFill>
                        </a:rPr>
                        <a:t>Q4 plan</a:t>
                      </a:r>
                    </a:p>
                  </a:txBody>
                  <a:tcPr>
                    <a:solidFill>
                      <a:srgbClr val="1F4E8C"/>
                    </a:solidFill>
                  </a:tcPr>
                </a:tc>
                <a:tc>
                  <a:txBody>
                    <a:bodyPr/>
                    <a:lstStyle/>
                    <a:p>
                      <a:r>
                        <a:rPr b="1" sz="1200">
                          <a:solidFill>
                            <a:srgbClr val="FFFFFF"/>
                          </a:solidFill>
                        </a:rPr>
                        <a:t>Q1 plan</a:t>
                      </a:r>
                    </a:p>
                  </a:txBody>
                  <a:tcPr>
                    <a:solidFill>
                      <a:srgbClr val="1F4E8C"/>
                    </a:solidFill>
                  </a:tcPr>
                </a:tc>
              </a:tr>
              <a:tr h="950976">
                <a:tc>
                  <a:txBody>
                    <a:bodyPr/>
                    <a:lstStyle/>
                    <a:p>
                      <a:r>
                        <a:rPr sz="1200">
                          <a:solidFill>
                            <a:srgbClr val="222A35"/>
                          </a:solidFill>
                        </a:rPr>
                        <a:t>Engineering</a:t>
                      </a:r>
                    </a:p>
                  </a:txBody>
                  <a:tcPr/>
                </a:tc>
                <a:tc>
                  <a:txBody>
                    <a:bodyPr/>
                    <a:lstStyle/>
                    <a:p>
                      <a:r>
                        <a:rPr sz="1200">
                          <a:solidFill>
                            <a:srgbClr val="222A35"/>
                          </a:solidFill>
                        </a:rPr>
                        <a:t>+6</a:t>
                      </a:r>
                    </a:p>
                  </a:txBody>
                  <a:tcPr/>
                </a:tc>
                <a:tc>
                  <a:txBody>
                    <a:bodyPr/>
                    <a:lstStyle/>
                    <a:p>
                      <a:r>
                        <a:rPr sz="1200">
                          <a:solidFill>
                            <a:srgbClr val="222A35"/>
                          </a:solidFill>
                        </a:rPr>
                        <a:t>+4</a:t>
                      </a:r>
                    </a:p>
                  </a:txBody>
                  <a:tcPr/>
                </a:tc>
              </a:tr>
              <a:tr h="950976">
                <a:tc>
                  <a:txBody>
                    <a:bodyPr/>
                    <a:lstStyle/>
                    <a:p>
                      <a:r>
                        <a:rPr sz="1200">
                          <a:solidFill>
                            <a:srgbClr val="222A35"/>
                          </a:solidFill>
                        </a:rPr>
                        <a:t>Product</a:t>
                      </a:r>
                    </a:p>
                  </a:txBody>
                  <a:tcPr/>
                </a:tc>
                <a:tc>
                  <a:txBody>
                    <a:bodyPr/>
                    <a:lstStyle/>
                    <a:p>
                      <a:r>
                        <a:rPr sz="1200">
                          <a:solidFill>
                            <a:srgbClr val="222A35"/>
                          </a:solidFill>
                        </a:rPr>
                        <a:t>+2</a:t>
                      </a:r>
                    </a:p>
                  </a:txBody>
                  <a:tcPr/>
                </a:tc>
                <a:tc>
                  <a:txBody>
                    <a:bodyPr/>
                    <a:lstStyle/>
                    <a:p>
                      <a:r>
                        <a:rPr sz="1200">
                          <a:solidFill>
                            <a:srgbClr val="222A35"/>
                          </a:solidFill>
                        </a:rPr>
                        <a:t>+1</a:t>
                      </a:r>
                    </a:p>
                  </a:txBody>
                  <a:tcPr/>
                </a:tc>
              </a:tr>
              <a:tr h="950976">
                <a:tc>
                  <a:txBody>
                    <a:bodyPr/>
                    <a:lstStyle/>
                    <a:p>
                      <a:r>
                        <a:rPr sz="1200">
                          <a:solidFill>
                            <a:srgbClr val="222A35"/>
                          </a:solidFill>
                        </a:rPr>
                        <a:t>Sales</a:t>
                      </a:r>
                    </a:p>
                  </a:txBody>
                  <a:tcPr/>
                </a:tc>
                <a:tc>
                  <a:txBody>
                    <a:bodyPr/>
                    <a:lstStyle/>
                    <a:p>
                      <a:r>
                        <a:rPr sz="1200">
                          <a:solidFill>
                            <a:srgbClr val="222A35"/>
                          </a:solidFill>
                        </a:rPr>
                        <a:t>+3</a:t>
                      </a:r>
                    </a:p>
                  </a:txBody>
                  <a:tcPr/>
                </a:tc>
                <a:tc>
                  <a:txBody>
                    <a:bodyPr/>
                    <a:lstStyle/>
                    <a:p>
                      <a:r>
                        <a:rPr sz="1200">
                          <a:solidFill>
                            <a:srgbClr val="222A35"/>
                          </a:solidFill>
                        </a:rPr>
                        <a:t>+5</a:t>
                      </a:r>
                    </a:p>
                  </a:txBody>
                  <a:tcPr/>
                </a:tc>
              </a:tr>
              <a:tr h="950976">
                <a:tc>
                  <a:txBody>
                    <a:bodyPr/>
                    <a:lstStyle/>
                    <a:p>
                      <a:r>
                        <a:rPr sz="1200">
                          <a:solidFill>
                            <a:srgbClr val="222A35"/>
                          </a:solidFill>
                        </a:rPr>
                        <a:t>CS</a:t>
                      </a:r>
                    </a:p>
                  </a:txBody>
                  <a:tcPr/>
                </a:tc>
                <a:tc>
                  <a:txBody>
                    <a:bodyPr/>
                    <a:lstStyle/>
                    <a:p>
                      <a:r>
                        <a:rPr sz="1200">
                          <a:solidFill>
                            <a:srgbClr val="222A35"/>
                          </a:solidFill>
                        </a:rPr>
                        <a:t>+2</a:t>
                      </a:r>
                    </a:p>
                  </a:txBody>
                  <a:tcPr/>
                </a:tc>
                <a:tc>
                  <a:txBody>
                    <a:bodyPr/>
                    <a:lstStyle/>
                    <a:p>
                      <a:r>
                        <a:rPr sz="1200">
                          <a:solidFill>
                            <a:srgbClr val="222A35"/>
                          </a:solidFill>
                        </a:rPr>
                        <a:t>+3</a:t>
                      </a:r>
                    </a:p>
                  </a:txBody>
                  <a:tcPr/>
                </a:tc>
              </a:tr>
            </a:tbl>
          </a:graphicData>
        </a:graphic>
      </p:graphicFrame>
      <p:sp>
        <p:nvSpPr>
          <p:cNvPr id="6" name="TextBox 5"/>
          <p:cNvSpPr txBox="1"/>
          <p:nvPr/>
        </p:nvSpPr>
        <p:spPr>
          <a:xfrm>
            <a:off x="457200" y="6400800"/>
            <a:ext cx="11274552" cy="274320"/>
          </a:xfrm>
          <a:prstGeom prst="rect">
            <a:avLst/>
          </a:prstGeom>
          <a:noFill/>
        </p:spPr>
        <p:txBody>
          <a:bodyPr wrap="none">
            <a:spAutoFit/>
          </a:bodyPr>
          <a:lstStyle/>
          <a:p>
            <a:r>
              <a:rPr sz="900">
                <a:solidFill>
                  <a:srgbClr val="6B7382"/>
                </a:solidFill>
                <a:latin typeface="Calibri"/>
              </a:rPr>
              <a:t>Template 8 · paragraph + table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640080"/>
          </a:xfrm>
          <a:prstGeom prst="rect">
            <a:avLst/>
          </a:prstGeom>
          <a:noFill/>
        </p:spPr>
        <p:txBody>
          <a:bodyPr wrap="none" lIns="0" rIns="0" tIns="0" bIns="0">
            <a:spAutoFit/>
          </a:bodyPr>
          <a:lstStyle/>
          <a:p>
            <a:r>
              <a:rPr sz="2800" b="1">
                <a:solidFill>
                  <a:srgbClr val="222A35"/>
                </a:solidFill>
                <a:latin typeface="Calibri"/>
              </a:rPr>
              <a:t>Why This Launch Matters</a:t>
            </a:r>
          </a:p>
        </p:txBody>
      </p:sp>
      <p:sp>
        <p:nvSpPr>
          <p:cNvPr id="3" name="Rectangle 2"/>
          <p:cNvSpPr/>
          <p:nvPr/>
        </p:nvSpPr>
        <p:spPr>
          <a:xfrm>
            <a:off x="457200" y="987552"/>
            <a:ext cx="640080" cy="28575"/>
          </a:xfrm>
          <a:prstGeom prst="rect">
            <a:avLst/>
          </a:prstGeom>
          <a:solidFill>
            <a:srgbClr val="1F4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5880"/>
            <a:ext cx="5303520" cy="4754880"/>
          </a:xfrm>
          <a:prstGeom prst="rect">
            <a:avLst/>
          </a:prstGeom>
          <a:noFill/>
        </p:spPr>
        <p:txBody>
          <a:bodyPr wrap="square">
            <a:spAutoFit/>
          </a:bodyPr>
          <a:lstStyle/>
          <a:p>
            <a:pPr>
              <a:spcAft>
                <a:spcPts val="1400"/>
              </a:spcAft>
            </a:pPr>
            <a:r>
              <a:rPr sz="1800" b="1">
                <a:solidFill>
                  <a:srgbClr val="222A35"/>
                </a:solidFill>
                <a:latin typeface="Calibri"/>
              </a:rPr>
              <a:t>The first release to unify ingest, review, and compose in one path.</a:t>
            </a:r>
          </a:p>
          <a:p>
            <a:pPr>
              <a:spcAft>
                <a:spcPts val="600"/>
              </a:spcAft>
            </a:pPr>
            <a:r>
              <a:rPr sz="1400">
                <a:solidFill>
                  <a:srgbClr val="222A35"/>
                </a:solidFill>
                <a:latin typeface="Calibri"/>
              </a:rPr>
              <a:t>•  Cuts setup time from an afternoon to ten minutes</a:t>
            </a:r>
          </a:p>
          <a:p>
            <a:pPr>
              <a:spcAft>
                <a:spcPts val="600"/>
              </a:spcAft>
            </a:pPr>
            <a:r>
              <a:rPr sz="1400">
                <a:solidFill>
                  <a:srgbClr val="222A35"/>
                </a:solidFill>
                <a:latin typeface="Calibri"/>
              </a:rPr>
              <a:t>•  Unlocks templated decks for non-design users</a:t>
            </a:r>
          </a:p>
          <a:p>
            <a:pPr>
              <a:spcAft>
                <a:spcPts val="600"/>
              </a:spcAft>
            </a:pPr>
            <a:r>
              <a:rPr sz="1400">
                <a:solidFill>
                  <a:srgbClr val="222A35"/>
                </a:solidFill>
                <a:latin typeface="Calibri"/>
              </a:rPr>
              <a:t>•  Sets the foundation for the v6 redesign</a:t>
            </a:r>
          </a:p>
          <a:p>
            <a:pPr>
              <a:spcAft>
                <a:spcPts val="600"/>
              </a:spcAft>
            </a:pPr>
            <a:r>
              <a:rPr sz="1400">
                <a:solidFill>
                  <a:srgbClr val="222A35"/>
                </a:solidFill>
                <a:latin typeface="Calibri"/>
              </a:rPr>
              <a:t>•  Lands ahead of the annual user conference</a:t>
            </a:r>
          </a:p>
        </p:txBody>
      </p:sp>
      <p:pic>
        <p:nvPicPr>
          <p:cNvPr id="5" name="Picture 4" descr="image.png"/>
          <p:cNvPicPr>
            <a:picLocks noChangeAspect="1"/>
          </p:cNvPicPr>
          <p:nvPr/>
        </p:nvPicPr>
        <p:blipFill>
          <a:blip r:embed="rId2"/>
          <a:stretch>
            <a:fillRect/>
          </a:stretch>
        </p:blipFill>
        <p:spPr>
          <a:xfrm>
            <a:off x="6126480" y="1325880"/>
            <a:ext cx="5605272" cy="4754880"/>
          </a:xfrm>
          <a:prstGeom prst="rect">
            <a:avLst/>
          </a:prstGeom>
        </p:spPr>
      </p:pic>
      <p:sp>
        <p:nvSpPr>
          <p:cNvPr id="6" name="TextBox 5"/>
          <p:cNvSpPr txBox="1"/>
          <p:nvPr/>
        </p:nvSpPr>
        <p:spPr>
          <a:xfrm>
            <a:off x="457200" y="6400800"/>
            <a:ext cx="11274552" cy="274320"/>
          </a:xfrm>
          <a:prstGeom prst="rect">
            <a:avLst/>
          </a:prstGeom>
          <a:noFill/>
        </p:spPr>
        <p:txBody>
          <a:bodyPr wrap="none">
            <a:spAutoFit/>
          </a:bodyPr>
          <a:lstStyle/>
          <a:p>
            <a:r>
              <a:rPr sz="900">
                <a:solidFill>
                  <a:srgbClr val="6B7382"/>
                </a:solidFill>
                <a:latin typeface="Calibri"/>
              </a:rPr>
              <a:t>Template 9 · lead + sub-bullets + image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640080"/>
          </a:xfrm>
          <a:prstGeom prst="rect">
            <a:avLst/>
          </a:prstGeom>
          <a:noFill/>
        </p:spPr>
        <p:txBody>
          <a:bodyPr wrap="none" lIns="0" rIns="0" tIns="0" bIns="0">
            <a:spAutoFit/>
          </a:bodyPr>
          <a:lstStyle/>
          <a:p>
            <a:r>
              <a:rPr sz="2800" b="1">
                <a:solidFill>
                  <a:srgbClr val="222A35"/>
                </a:solidFill>
                <a:latin typeface="Calibri"/>
              </a:rPr>
              <a:t>By the Numbers</a:t>
            </a:r>
          </a:p>
        </p:txBody>
      </p:sp>
      <p:sp>
        <p:nvSpPr>
          <p:cNvPr id="3" name="Rectangle 2"/>
          <p:cNvSpPr/>
          <p:nvPr/>
        </p:nvSpPr>
        <p:spPr>
          <a:xfrm>
            <a:off x="457200" y="987552"/>
            <a:ext cx="640080" cy="28575"/>
          </a:xfrm>
          <a:prstGeom prst="rect">
            <a:avLst/>
          </a:prstGeom>
          <a:solidFill>
            <a:srgbClr val="1F4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554480"/>
            <a:ext cx="5303520" cy="1005840"/>
          </a:xfrm>
          <a:prstGeom prst="rect">
            <a:avLst/>
          </a:prstGeom>
          <a:noFill/>
        </p:spPr>
        <p:txBody>
          <a:bodyPr wrap="none">
            <a:spAutoFit/>
          </a:bodyPr>
          <a:lstStyle/>
          <a:p>
            <a:r>
              <a:rPr sz="5600" b="1">
                <a:solidFill>
                  <a:srgbClr val="1F4E8C"/>
                </a:solidFill>
                <a:latin typeface="Calibri"/>
              </a:rPr>
              <a:t>+38%</a:t>
            </a:r>
          </a:p>
        </p:txBody>
      </p:sp>
      <p:sp>
        <p:nvSpPr>
          <p:cNvPr id="5" name="TextBox 4"/>
          <p:cNvSpPr txBox="1"/>
          <p:nvPr/>
        </p:nvSpPr>
        <p:spPr>
          <a:xfrm>
            <a:off x="457200" y="2560320"/>
            <a:ext cx="5303520" cy="457200"/>
          </a:xfrm>
          <a:prstGeom prst="rect">
            <a:avLst/>
          </a:prstGeom>
          <a:noFill/>
        </p:spPr>
        <p:txBody>
          <a:bodyPr wrap="none">
            <a:spAutoFit/>
          </a:bodyPr>
          <a:lstStyle/>
          <a:p>
            <a:r>
              <a:rPr sz="1400">
                <a:solidFill>
                  <a:srgbClr val="6B7382"/>
                </a:solidFill>
                <a:latin typeface="Calibri"/>
              </a:rPr>
              <a:t>Year-over-year revenue growth</a:t>
            </a:r>
          </a:p>
        </p:txBody>
      </p:sp>
      <p:sp>
        <p:nvSpPr>
          <p:cNvPr id="6" name="TextBox 5"/>
          <p:cNvSpPr txBox="1"/>
          <p:nvPr/>
        </p:nvSpPr>
        <p:spPr>
          <a:xfrm>
            <a:off x="457200" y="3474720"/>
            <a:ext cx="5303520" cy="1005840"/>
          </a:xfrm>
          <a:prstGeom prst="rect">
            <a:avLst/>
          </a:prstGeom>
          <a:noFill/>
        </p:spPr>
        <p:txBody>
          <a:bodyPr wrap="none">
            <a:spAutoFit/>
          </a:bodyPr>
          <a:lstStyle/>
          <a:p>
            <a:r>
              <a:rPr sz="5600" b="1">
                <a:solidFill>
                  <a:srgbClr val="1F4E8C"/>
                </a:solidFill>
                <a:latin typeface="Calibri"/>
              </a:rPr>
              <a:t>4.7 / 5</a:t>
            </a:r>
          </a:p>
        </p:txBody>
      </p:sp>
      <p:sp>
        <p:nvSpPr>
          <p:cNvPr id="7" name="TextBox 6"/>
          <p:cNvSpPr txBox="1"/>
          <p:nvPr/>
        </p:nvSpPr>
        <p:spPr>
          <a:xfrm>
            <a:off x="457200" y="4480560"/>
            <a:ext cx="5303520" cy="457200"/>
          </a:xfrm>
          <a:prstGeom prst="rect">
            <a:avLst/>
          </a:prstGeom>
          <a:noFill/>
        </p:spPr>
        <p:txBody>
          <a:bodyPr wrap="none">
            <a:spAutoFit/>
          </a:bodyPr>
          <a:lstStyle/>
          <a:p>
            <a:r>
              <a:rPr sz="1400">
                <a:solidFill>
                  <a:srgbClr val="6B7382"/>
                </a:solidFill>
                <a:latin typeface="Calibri"/>
              </a:rPr>
              <a:t>Customer satisfaction score</a:t>
            </a:r>
          </a:p>
        </p:txBody>
      </p:sp>
      <p:graphicFrame>
        <p:nvGraphicFramePr>
          <p:cNvPr id="8" name="Chart 7"/>
          <p:cNvGraphicFramePr>
            <a:graphicFrameLocks noGrp="1"/>
          </p:cNvGraphicFramePr>
          <p:nvPr/>
        </p:nvGraphicFramePr>
        <p:xfrm>
          <a:off x="6126480" y="1325880"/>
          <a:ext cx="5605272" cy="4754880"/>
        </p:xfrm>
        <a:graphic>
          <a:graphicData uri="http://schemas.openxmlformats.org/drawingml/2006/chart">
            <c:chart xmlns:c="http://schemas.openxmlformats.org/drawingml/2006/chart" r:id="rId2"/>
          </a:graphicData>
        </a:graphic>
      </p:graphicFrame>
      <p:sp>
        <p:nvSpPr>
          <p:cNvPr id="9" name="TextBox 8"/>
          <p:cNvSpPr txBox="1"/>
          <p:nvPr/>
        </p:nvSpPr>
        <p:spPr>
          <a:xfrm>
            <a:off x="457200" y="6400800"/>
            <a:ext cx="11274552" cy="274320"/>
          </a:xfrm>
          <a:prstGeom prst="rect">
            <a:avLst/>
          </a:prstGeom>
          <a:noFill/>
        </p:spPr>
        <p:txBody>
          <a:bodyPr wrap="none">
            <a:spAutoFit/>
          </a:bodyPr>
          <a:lstStyle/>
          <a:p>
            <a:r>
              <a:rPr sz="900">
                <a:solidFill>
                  <a:srgbClr val="6B7382"/>
                </a:solidFill>
                <a:latin typeface="Calibri"/>
              </a:rPr>
              <a:t>Template 10 · KPI stats + column chart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